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0"/>
            <a:ext cx="1463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0"/>
              </a:lnSpc>
              <a:spcBef>
                <a:spcPts val="0"/>
              </a:spcBef>
              <a:spcAft>
                <a:spcPts val="0"/>
              </a:spcAft>
              <a:defRPr sz="7200" b="1">
                <a:solidFill>
                  <a:srgbClr val="FFFFFF"/>
                </a:solidFill>
                <a:latin typeface="Microsoft YaHei"/>
              </a:defRPr>
            </a:pPr>
            <a:r>
              <a:t>南京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743200"/>
            <a:ext cx="1463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0"/>
              </a:lnSpc>
              <a:spcBef>
                <a:spcPts val="0"/>
              </a:spcBef>
              <a:spcAft>
                <a:spcPts val="0"/>
              </a:spcAft>
              <a:defRPr sz="7200" b="1">
                <a:solidFill>
                  <a:srgbClr val="FFFFFF"/>
                </a:solidFill>
                <a:latin typeface="Microsoft YaHei"/>
              </a:defRPr>
            </a:pPr>
            <a:r>
              <a:t>8天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114800"/>
            <a:ext cx="1463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400"/>
              </a:lnSpc>
              <a:spcBef>
                <a:spcPts val="0"/>
              </a:spcBef>
              <a:spcAft>
                <a:spcPts val="0"/>
              </a:spcAft>
              <a:defRPr sz="9600" b="1">
                <a:solidFill>
                  <a:srgbClr val="FFFFFF"/>
                </a:solidFill>
                <a:latin typeface="Microsoft YaHei"/>
              </a:defRPr>
            </a:pPr>
            <a:r>
              <a:t>1000人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743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720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大家好，我是苏菜菜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8404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400"/>
              </a:lnSpc>
              <a:spcBef>
                <a:spcPts val="0"/>
              </a:spcBef>
              <a:spcAft>
                <a:spcPts val="0"/>
              </a:spcAft>
              <a:defRPr sz="3600" b="0">
                <a:solidFill>
                  <a:srgbClr val="CCCCCC"/>
                </a:solidFill>
                <a:latin typeface="Microsoft YaHei"/>
              </a:defRPr>
            </a:pPr>
            <a:r>
              <a:t>拓圈Topoo发起者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926080"/>
            <a:ext cx="1280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6600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我要做一件大概率会被打脸的事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0" y="1371600"/>
            <a:ext cx="91440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760"/>
              </a:lnSpc>
              <a:spcAft>
                <a:spcPts val="400"/>
              </a:spcAft>
              <a:defRPr b="1" sz="3600">
                <a:solidFill>
                  <a:srgbClr val="FFFFFF"/>
                </a:solidFill>
                <a:latin typeface="Microsoft YaHei"/>
              </a:defRPr>
            </a:pPr>
            <a:r>
              <a:t>5月10日 — 5月17日</a:t>
            </a:r>
          </a:p>
          <a:p>
            <a:pPr algn="ctr">
              <a:lnSpc>
                <a:spcPts val="5760"/>
              </a:lnSpc>
              <a:spcAft>
                <a:spcPts val="400"/>
              </a:spcAft>
              <a:defRPr b="0" sz="3600">
                <a:solidFill>
                  <a:srgbClr val="FFFFFF"/>
                </a:solidFill>
                <a:latin typeface="Microsoft YaHei"/>
              </a:defRPr>
            </a:pPr>
          </a:p>
          <a:p>
            <a:pPr algn="ctr">
              <a:lnSpc>
                <a:spcPts val="5760"/>
              </a:lnSpc>
              <a:spcAft>
                <a:spcPts val="400"/>
              </a:spcAft>
              <a:defRPr b="0" sz="3600">
                <a:solidFill>
                  <a:srgbClr val="FFFFFF"/>
                </a:solidFill>
                <a:latin typeface="Microsoft YaHei"/>
              </a:defRPr>
            </a:pPr>
            <a:r>
              <a:t>南京 · 国创园</a:t>
            </a:r>
          </a:p>
          <a:p>
            <a:pPr algn="ctr">
              <a:lnSpc>
                <a:spcPts val="5760"/>
              </a:lnSpc>
              <a:spcAft>
                <a:spcPts val="400"/>
              </a:spcAft>
              <a:defRPr b="0" sz="3600">
                <a:solidFill>
                  <a:srgbClr val="FFFFFF"/>
                </a:solidFill>
                <a:latin typeface="Microsoft YaHei"/>
              </a:defRPr>
            </a:pPr>
            <a:r>
              <a:t>6场线下培训</a:t>
            </a:r>
          </a:p>
          <a:p>
            <a:pPr algn="ctr">
              <a:lnSpc>
                <a:spcPts val="5760"/>
              </a:lnSpc>
              <a:spcAft>
                <a:spcPts val="400"/>
              </a:spcAft>
              <a:defRPr b="0" sz="3600">
                <a:solidFill>
                  <a:srgbClr val="FFFFFF"/>
                </a:solidFill>
                <a:latin typeface="Microsoft YaHei"/>
              </a:defRPr>
            </a:pPr>
          </a:p>
          <a:p>
            <a:pPr algn="ctr">
              <a:lnSpc>
                <a:spcPts val="5760"/>
              </a:lnSpc>
              <a:spcAft>
                <a:spcPts val="400"/>
              </a:spcAft>
              <a:defRPr b="0" sz="3600">
                <a:solidFill>
                  <a:srgbClr val="CCCCCC"/>
                </a:solidFill>
                <a:latin typeface="Microsoft YaHei"/>
              </a:defRPr>
            </a:pPr>
            <a:r>
              <a:t>讲师：张明军</a:t>
            </a:r>
          </a:p>
          <a:p>
            <a:pPr algn="ctr">
              <a:lnSpc>
                <a:spcPts val="5760"/>
              </a:lnSpc>
              <a:spcAft>
                <a:spcPts val="400"/>
              </a:spcAft>
              <a:defRPr b="0" sz="3600">
                <a:solidFill>
                  <a:srgbClr val="888888"/>
                </a:solidFill>
                <a:latin typeface="Microsoft YaHei"/>
              </a:defRPr>
            </a:pPr>
            <a:r>
              <a:t>百万粉丝科技博主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828800"/>
            <a:ext cx="1463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400"/>
              </a:lnSpc>
              <a:spcBef>
                <a:spcPts val="0"/>
              </a:spcBef>
              <a:spcAft>
                <a:spcPts val="0"/>
              </a:spcAft>
              <a:defRPr sz="3600" b="0">
                <a:solidFill>
                  <a:srgbClr val="888888"/>
                </a:solidFill>
                <a:latin typeface="Microsoft YaHei"/>
              </a:defRPr>
            </a:pPr>
            <a:r>
              <a:t>南京常住人口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743200"/>
            <a:ext cx="1463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0"/>
              </a:lnSpc>
              <a:spcBef>
                <a:spcPts val="0"/>
              </a:spcBef>
              <a:spcAft>
                <a:spcPts val="0"/>
              </a:spcAft>
              <a:defRPr sz="8000" b="1">
                <a:solidFill>
                  <a:srgbClr val="333333"/>
                </a:solidFill>
                <a:latin typeface="Microsoft YaHei"/>
              </a:defRPr>
            </a:pPr>
            <a:r>
              <a:t>940万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572000"/>
            <a:ext cx="1463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defRPr sz="3200" b="0">
                <a:solidFill>
                  <a:srgbClr val="888888"/>
                </a:solidFill>
                <a:latin typeface="Microsoft YaHei"/>
              </a:defRPr>
            </a:pPr>
            <a:r>
              <a:t>1000人 = 万分之一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280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defRPr sz="3200" b="0">
                <a:solidFill>
                  <a:srgbClr val="CCCCCC"/>
                </a:solidFill>
                <a:latin typeface="Microsoft YaHei"/>
              </a:defRPr>
            </a:pPr>
            <a:r>
              <a:t>但做过线下活动的人都知道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0" y="1828800"/>
            <a:ext cx="7315200" cy="127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0" y="22860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900"/>
              </a:lnSpc>
              <a:spcAft>
                <a:spcPts val="400"/>
              </a:spcAft>
              <a:defRPr b="0" sz="3000">
                <a:solidFill>
                  <a:srgbClr val="FFFFFF"/>
                </a:solidFill>
                <a:latin typeface="Microsoft YaHei"/>
              </a:defRPr>
            </a:pPr>
            <a:r>
              <a:t>让一个人——</a:t>
            </a:r>
          </a:p>
          <a:p>
            <a:pPr algn="ctr">
              <a:lnSpc>
                <a:spcPts val="3900"/>
              </a:lnSpc>
              <a:spcAft>
                <a:spcPts val="400"/>
              </a:spcAft>
              <a:defRPr b="0" sz="3000">
                <a:solidFill>
                  <a:srgbClr val="FFFFFF"/>
                </a:solidFill>
                <a:latin typeface="Microsoft YaHei"/>
              </a:defRPr>
            </a:pPr>
            <a:r>
              <a:t>看到信息</a:t>
            </a:r>
          </a:p>
          <a:p>
            <a:pPr algn="ctr">
              <a:lnSpc>
                <a:spcPts val="3900"/>
              </a:lnSpc>
              <a:spcAft>
                <a:spcPts val="400"/>
              </a:spcAft>
              <a:defRPr b="0" sz="3000">
                <a:solidFill>
                  <a:srgbClr val="888888"/>
                </a:solidFill>
                <a:latin typeface="Microsoft YaHei"/>
              </a:defRPr>
            </a:pPr>
            <a:r>
              <a:t>↓</a:t>
            </a:r>
          </a:p>
          <a:p>
            <a:pPr algn="ctr">
              <a:lnSpc>
                <a:spcPts val="3900"/>
              </a:lnSpc>
              <a:spcAft>
                <a:spcPts val="400"/>
              </a:spcAft>
              <a:defRPr b="0" sz="3000">
                <a:solidFill>
                  <a:srgbClr val="FFFFFF"/>
                </a:solidFill>
                <a:latin typeface="Microsoft YaHei"/>
              </a:defRPr>
            </a:pPr>
            <a:r>
              <a:t>付 199 块</a:t>
            </a:r>
          </a:p>
          <a:p>
            <a:pPr algn="ctr">
              <a:lnSpc>
                <a:spcPts val="3900"/>
              </a:lnSpc>
              <a:spcAft>
                <a:spcPts val="400"/>
              </a:spcAft>
              <a:defRPr b="0" sz="3000">
                <a:solidFill>
                  <a:srgbClr val="888888"/>
                </a:solidFill>
                <a:latin typeface="Microsoft YaHei"/>
              </a:defRPr>
            </a:pPr>
            <a:r>
              <a:t>↓</a:t>
            </a:r>
          </a:p>
          <a:p>
            <a:pPr algn="ctr">
              <a:lnSpc>
                <a:spcPts val="3900"/>
              </a:lnSpc>
              <a:spcAft>
                <a:spcPts val="400"/>
              </a:spcAft>
              <a:defRPr b="0" sz="3000">
                <a:solidFill>
                  <a:srgbClr val="FFFFFF"/>
                </a:solidFill>
                <a:latin typeface="Microsoft YaHei"/>
              </a:defRPr>
            </a:pPr>
            <a:r>
              <a:t>周末爬起来出门</a:t>
            </a:r>
          </a:p>
          <a:p>
            <a:pPr algn="ctr">
              <a:lnSpc>
                <a:spcPts val="3900"/>
              </a:lnSpc>
              <a:spcAft>
                <a:spcPts val="400"/>
              </a:spcAft>
              <a:defRPr b="0" sz="3000">
                <a:solidFill>
                  <a:srgbClr val="888888"/>
                </a:solidFill>
                <a:latin typeface="Microsoft YaHei"/>
              </a:defRPr>
            </a:pPr>
            <a:r>
              <a:t>↓</a:t>
            </a:r>
          </a:p>
          <a:p>
            <a:pPr algn="ctr">
              <a:lnSpc>
                <a:spcPts val="3900"/>
              </a:lnSpc>
              <a:spcAft>
                <a:spcPts val="400"/>
              </a:spcAft>
              <a:defRPr b="0" sz="3000">
                <a:solidFill>
                  <a:srgbClr val="FFFFFF"/>
                </a:solidFill>
                <a:latin typeface="Microsoft YaHei"/>
              </a:defRPr>
            </a:pPr>
            <a:r>
              <a:t>坐地铁到场</a:t>
            </a:r>
          </a:p>
          <a:p>
            <a:pPr algn="ctr">
              <a:lnSpc>
                <a:spcPts val="3900"/>
              </a:lnSpc>
              <a:spcAft>
                <a:spcPts val="400"/>
              </a:spcAft>
              <a:defRPr b="0" sz="3000">
                <a:solidFill>
                  <a:srgbClr val="888888"/>
                </a:solidFill>
                <a:latin typeface="Microsoft YaHei"/>
              </a:defRPr>
            </a:pPr>
            <a:r>
              <a:t>↓</a:t>
            </a:r>
          </a:p>
          <a:p>
            <a:pPr algn="ctr">
              <a:lnSpc>
                <a:spcPts val="3900"/>
              </a:lnSpc>
              <a:spcAft>
                <a:spcPts val="400"/>
              </a:spcAft>
              <a:defRPr b="0" sz="3000">
                <a:solidFill>
                  <a:srgbClr val="FFFFFF"/>
                </a:solidFill>
                <a:latin typeface="Microsoft YaHei"/>
              </a:defRPr>
            </a:pPr>
            <a:r>
              <a:t>坐 8 个小时</a:t>
            </a:r>
          </a:p>
          <a:p>
            <a:pPr algn="ctr">
              <a:lnSpc>
                <a:spcPts val="3900"/>
              </a:lnSpc>
              <a:spcAft>
                <a:spcPts val="400"/>
              </a:spcAft>
              <a:defRPr b="0" sz="3000">
                <a:solidFill>
                  <a:srgbClr val="FFFFFF"/>
                </a:solidFill>
                <a:latin typeface="Microsoft YaHei"/>
              </a:defRPr>
            </a:pPr>
          </a:p>
          <a:p>
            <a:pPr algn="ctr">
              <a:lnSpc>
                <a:spcPts val="3900"/>
              </a:lnSpc>
              <a:spcAft>
                <a:spcPts val="400"/>
              </a:spcAft>
              <a:defRPr b="1" sz="3000">
                <a:solidFill>
                  <a:srgbClr val="FF4444"/>
                </a:solidFill>
                <a:latin typeface="Microsoft YaHei"/>
              </a:defRPr>
            </a:pPr>
            <a:r>
              <a:t>每一步，都在掉人。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286000"/>
            <a:ext cx="1463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000"/>
              </a:lnSpc>
              <a:spcBef>
                <a:spcPts val="0"/>
              </a:spcBef>
              <a:spcAft>
                <a:spcPts val="0"/>
              </a:spcAft>
              <a:defRPr sz="6000" b="1">
                <a:solidFill>
                  <a:srgbClr val="333333"/>
                </a:solidFill>
                <a:latin typeface="Microsoft YaHei"/>
              </a:defRPr>
            </a:pPr>
            <a:r>
              <a:t>6 场 × 167 人 = 1002 人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0"/>
            <a:ext cx="1463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defRPr sz="3200" b="0">
                <a:solidFill>
                  <a:srgbClr val="CCCCCC"/>
                </a:solidFill>
                <a:latin typeface="Microsoft YaHei"/>
              </a:defRPr>
            </a:pPr>
            <a:r>
              <a:t>距首场：14天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743200"/>
            <a:ext cx="1463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defRPr sz="4000" b="0">
                <a:solidFill>
                  <a:srgbClr val="CCCCCC"/>
                </a:solidFill>
                <a:latin typeface="Microsoft YaHei"/>
              </a:defRPr>
            </a:pPr>
            <a:r>
              <a:t>当前报名人数：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840480"/>
            <a:ext cx="1463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000"/>
              </a:lnSpc>
              <a:spcBef>
                <a:spcPts val="0"/>
              </a:spcBef>
              <a:spcAft>
                <a:spcPts val="0"/>
              </a:spcAft>
              <a:defRPr sz="14000" b="1">
                <a:solidFill>
                  <a:srgbClr val="FFFFFF"/>
                </a:solidFill>
                <a:latin typeface="Microsoft YaHei"/>
              </a:defRPr>
            </a:pPr>
            <a:r>
              <a:t>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defRPr sz="4000" b="0">
                <a:solidFill>
                  <a:srgbClr val="CCCCCC"/>
                </a:solidFill>
                <a:latin typeface="Microsoft YaHei"/>
              </a:defRPr>
            </a:pPr>
            <a:r>
              <a:t>从今天开始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280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720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我每天更新真实数据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8288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7200"/>
              </a:lnSpc>
              <a:spcAft>
                <a:spcPts val="400"/>
              </a:spcAft>
              <a:defRPr b="1" sz="4000">
                <a:solidFill>
                  <a:srgbClr val="FFFFFF"/>
                </a:solidFill>
                <a:latin typeface="Microsoft YaHei"/>
              </a:defRPr>
            </a:pPr>
            <a:r>
              <a:t>做到了 → 算本事</a:t>
            </a:r>
          </a:p>
          <a:p>
            <a:pPr algn="ctr">
              <a:lnSpc>
                <a:spcPts val="7200"/>
              </a:lnSpc>
              <a:spcAft>
                <a:spcPts val="400"/>
              </a:spcAft>
              <a:defRPr b="0" sz="4000">
                <a:solidFill>
                  <a:srgbClr val="FFFFFF"/>
                </a:solidFill>
                <a:latin typeface="Microsoft YaHei"/>
              </a:defRPr>
            </a:pPr>
          </a:p>
          <a:p>
            <a:pPr algn="ctr">
              <a:lnSpc>
                <a:spcPts val="7200"/>
              </a:lnSpc>
              <a:spcAft>
                <a:spcPts val="400"/>
              </a:spcAft>
              <a:defRPr b="1" sz="4000">
                <a:solidFill>
                  <a:srgbClr val="CCCCCC"/>
                </a:solidFill>
                <a:latin typeface="Microsoft YaHei"/>
              </a:defRPr>
            </a:pPr>
            <a:r>
              <a:t>没做到 → 复盘素材</a:t>
            </a:r>
          </a:p>
          <a:p>
            <a:pPr algn="ctr">
              <a:lnSpc>
                <a:spcPts val="7200"/>
              </a:lnSpc>
              <a:spcAft>
                <a:spcPts val="400"/>
              </a:spcAft>
              <a:defRPr b="0" sz="4000">
                <a:solidFill>
                  <a:srgbClr val="FFFFFF"/>
                </a:solidFill>
                <a:latin typeface="Microsoft YaHei"/>
              </a:defRPr>
            </a:pPr>
          </a:p>
          <a:p>
            <a:pPr algn="ctr">
              <a:lnSpc>
                <a:spcPts val="7200"/>
              </a:lnSpc>
              <a:spcAft>
                <a:spcPts val="400"/>
              </a:spcAft>
              <a:defRPr b="0" sz="4000">
                <a:solidFill>
                  <a:srgbClr val="888888"/>
                </a:solidFill>
                <a:latin typeface="Microsoft YaHei"/>
              </a:defRPr>
            </a:pPr>
            <a:r>
              <a:t>反正，不会无聊。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0" y="1371600"/>
            <a:ext cx="9144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800"/>
              </a:lnSpc>
              <a:spcAft>
                <a:spcPts val="400"/>
              </a:spcAft>
              <a:defRPr b="1" sz="3200">
                <a:solidFill>
                  <a:srgbClr val="FFFFFF"/>
                </a:solidFill>
                <a:latin typeface="Microsoft YaHei"/>
              </a:defRPr>
            </a:pPr>
            <a:r>
              <a:t>南京 · 国创园</a:t>
            </a:r>
          </a:p>
          <a:p>
            <a:pPr algn="ctr">
              <a:lnSpc>
                <a:spcPts val="4800"/>
              </a:lnSpc>
              <a:spcAft>
                <a:spcPts val="400"/>
              </a:spcAft>
              <a:defRPr b="0" sz="3200">
                <a:solidFill>
                  <a:srgbClr val="FFFFFF"/>
                </a:solidFill>
                <a:latin typeface="Microsoft YaHei"/>
              </a:defRPr>
            </a:pPr>
          </a:p>
          <a:p>
            <a:pPr algn="ctr">
              <a:lnSpc>
                <a:spcPts val="4800"/>
              </a:lnSpc>
              <a:spcAft>
                <a:spcPts val="400"/>
              </a:spcAft>
              <a:defRPr b="0" sz="3200">
                <a:solidFill>
                  <a:srgbClr val="CCCCCC"/>
                </a:solidFill>
                <a:latin typeface="Microsoft YaHei"/>
              </a:defRPr>
            </a:pPr>
            <a:r>
              <a:t>5月10日 — 5月17日</a:t>
            </a:r>
          </a:p>
          <a:p>
            <a:pPr algn="ctr">
              <a:lnSpc>
                <a:spcPts val="4800"/>
              </a:lnSpc>
              <a:spcAft>
                <a:spcPts val="400"/>
              </a:spcAft>
              <a:defRPr b="0" sz="3200">
                <a:solidFill>
                  <a:srgbClr val="FFFFFF"/>
                </a:solidFill>
                <a:latin typeface="Microsoft YaHei"/>
              </a:defRPr>
            </a:pPr>
          </a:p>
          <a:p>
            <a:pPr algn="ctr">
              <a:lnSpc>
                <a:spcPts val="4800"/>
              </a:lnSpc>
              <a:spcAft>
                <a:spcPts val="400"/>
              </a:spcAft>
              <a:defRPr b="1" sz="3200">
                <a:solidFill>
                  <a:srgbClr val="FFFFFF"/>
                </a:solidFill>
                <a:latin typeface="Microsoft YaHei"/>
              </a:defRPr>
            </a:pPr>
            <a:r>
              <a:t>¥199 / 人</a:t>
            </a:r>
          </a:p>
          <a:p>
            <a:pPr algn="ctr">
              <a:lnSpc>
                <a:spcPts val="4800"/>
              </a:lnSpc>
              <a:spcAft>
                <a:spcPts val="400"/>
              </a:spcAft>
              <a:defRPr b="0" sz="3200">
                <a:solidFill>
                  <a:srgbClr val="CCCCCC"/>
                </a:solidFill>
                <a:latin typeface="Microsoft YaHei"/>
              </a:defRPr>
            </a:pPr>
            <a:r>
              <a:t>全天 6 大模块</a:t>
            </a:r>
          </a:p>
          <a:p>
            <a:pPr algn="ctr">
              <a:lnSpc>
                <a:spcPts val="4800"/>
              </a:lnSpc>
              <a:spcAft>
                <a:spcPts val="400"/>
              </a:spcAft>
              <a:defRPr b="0" sz="3200">
                <a:solidFill>
                  <a:srgbClr val="888888"/>
                </a:solidFill>
                <a:latin typeface="Microsoft YaHei"/>
              </a:defRPr>
            </a:pPr>
            <a:r>
              <a:t>线下授课 · 张明军</a:t>
            </a:r>
          </a:p>
          <a:p>
            <a:pPr algn="ctr">
              <a:lnSpc>
                <a:spcPts val="4800"/>
              </a:lnSpc>
              <a:spcAft>
                <a:spcPts val="400"/>
              </a:spcAft>
              <a:defRPr b="0" sz="3200">
                <a:solidFill>
                  <a:srgbClr val="FFFFFF"/>
                </a:solidFill>
                <a:latin typeface="Microsoft YaHei"/>
              </a:defRPr>
            </a:pPr>
          </a:p>
          <a:p>
            <a:pPr algn="ctr">
              <a:lnSpc>
                <a:spcPts val="4800"/>
              </a:lnSpc>
              <a:spcAft>
                <a:spcPts val="400"/>
              </a:spcAft>
              <a:defRPr b="1" sz="3200">
                <a:solidFill>
                  <a:srgbClr val="FFFFFF"/>
                </a:solidFill>
                <a:latin typeface="Microsoft YaHei"/>
              </a:defRPr>
            </a:pPr>
            <a:r>
              <a:t>点 链 接 ， 报 名 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914400"/>
            <a:ext cx="1463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0"/>
              </a:lnSpc>
              <a:spcBef>
                <a:spcPts val="0"/>
              </a:spcBef>
              <a:spcAft>
                <a:spcPts val="0"/>
              </a:spcAft>
              <a:defRPr sz="7200" b="1">
                <a:solidFill>
                  <a:srgbClr val="FFFFFF"/>
                </a:solidFill>
                <a:latin typeface="Microsoft YaHei"/>
              </a:defRPr>
            </a:pPr>
            <a:r>
              <a:t>Day 1 / 22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0" y="2560320"/>
            <a:ext cx="7315200" cy="254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0" y="2926080"/>
            <a:ext cx="9144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6000"/>
              </a:lnSpc>
              <a:spcAft>
                <a:spcPts val="400"/>
              </a:spcAft>
              <a:defRPr b="0" sz="3000">
                <a:solidFill>
                  <a:srgbClr val="CCCCCC"/>
                </a:solidFill>
                <a:latin typeface="Microsoft YaHei"/>
              </a:defRPr>
            </a:pPr>
            <a:r>
              <a:t>当前报名：0 人</a:t>
            </a:r>
          </a:p>
          <a:p>
            <a:pPr algn="ctr">
              <a:lnSpc>
                <a:spcPts val="6000"/>
              </a:lnSpc>
              <a:spcAft>
                <a:spcPts val="400"/>
              </a:spcAft>
              <a:defRPr b="0" sz="3000">
                <a:solidFill>
                  <a:srgbClr val="CCCCCC"/>
                </a:solidFill>
                <a:latin typeface="Microsoft YaHei"/>
              </a:defRPr>
            </a:pPr>
            <a:r>
              <a:t>目标：1000 人</a:t>
            </a:r>
          </a:p>
          <a:p>
            <a:pPr algn="ctr">
              <a:lnSpc>
                <a:spcPts val="6000"/>
              </a:lnSpc>
              <a:spcAft>
                <a:spcPts val="400"/>
              </a:spcAft>
              <a:defRPr b="0" sz="3000">
                <a:solidFill>
                  <a:srgbClr val="CCCCCC"/>
                </a:solidFill>
                <a:latin typeface="Microsoft YaHei"/>
              </a:defRPr>
            </a:pPr>
            <a:r>
              <a:t>距首场：14 天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5669280"/>
            <a:ext cx="7315200" cy="127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6217920"/>
            <a:ext cx="1463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888888"/>
                </a:solidFill>
                <a:latin typeface="Microsoft YaHei"/>
              </a:defRPr>
            </a:pPr>
            <a:r>
              <a:t>拓圈 Topoo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6858000"/>
            <a:ext cx="1463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999999"/>
                </a:solidFill>
                <a:latin typeface="Microsoft YaHei"/>
              </a:defRPr>
            </a:pPr>
            <a:r>
              <a:t>让小而美被世界看见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