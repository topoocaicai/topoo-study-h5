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18320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全国首届</a:t>
            </a:r>
            <a:r>
              <a:t>OPC</a:t>
            </a:r>
            <a:r>
              <a:rPr lang="zh-CN"/>
              <a:t>创客</a:t>
            </a:r>
            <a:r>
              <a:t>大赛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rPr lang="en-US" altLang="zh-CN"/>
              <a:t>The First National OPC Maker Competition</a:t>
            </a:r>
            <a:endParaRPr lang="en-US" altLang="zh-CN"/>
          </a:p>
        </p:txBody>
      </p:sp>
      <p:sp>
        <p:nvSpPr>
          <p:cNvPr id="6" name="Rectangle 5"/>
          <p:cNvSpPr/>
          <p:nvPr/>
        </p:nvSpPr>
        <p:spPr>
          <a:xfrm>
            <a:off x="5029200" y="3520440"/>
            <a:ext cx="210312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5A5A"/>
                </a:solidFill>
                <a:latin typeface="微软雅黑" panose="020B0503020204020204" charset="-122"/>
              </a:defRPr>
            </a:pPr>
            <a:r>
              <a:t>以赛招商  ·  以赛聚人  ·  以赛造势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572000"/>
            <a:ext cx="9418320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418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主办单位：句容市商务局  ·  句容市科技局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66360"/>
            <a:ext cx="9418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承办单位：振邺科技  ·  智科数娱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86400"/>
            <a:ext cx="9418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协办单位：香宁研究院  ·  龙虾联盟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126480"/>
            <a:ext cx="9418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工作汇报方案（第一稿）  |  202</a:t>
            </a:r>
            <a:r>
              <a:rPr lang="en-US"/>
              <a:t>6</a:t>
            </a:r>
            <a:r>
              <a:t>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句容市OPC大赛方案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5448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项目背景与意义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084832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267712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31851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大赛概况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798064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980944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31744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参赛对象与赛道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511296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694176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744976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创作主题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224528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07408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5820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赛程安排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937760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评审体系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55448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6052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奖项设置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084832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267712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31851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赋能与培训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798064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80944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031744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宣传推广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511296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694176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744976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预期效果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224528"/>
            <a:ext cx="4389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407408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45820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后续规划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1371600"/>
            <a:ext cx="12700" cy="4754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项目背景与意义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463040"/>
            <a:ext cx="10332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463040"/>
            <a:ext cx="63500" cy="109728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459230"/>
            <a:ext cx="9601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在"内容+电商"深度融合的当下，OPC（一人公司/个人创作者经济）已成为电商内容传播和产品推广的核心力量。通过举办OPC大赛，以赛事为抓手，批量吸引优质创作者关注句容、汇聚句容，为句容跨境电商产业园的招商运营注入持续的内容活力和人才储备。</a:t>
            </a:r>
          </a:p>
        </p:txBody>
      </p:sp>
      <p:sp>
        <p:nvSpPr>
          <p:cNvPr id="13" name="Rounded Rectangle 12"/>
          <p:cNvSpPr/>
          <p:nvPr>
            <p:custDataLst>
              <p:tags r:id="rId1"/>
            </p:custDataLst>
          </p:nvPr>
        </p:nvSpPr>
        <p:spPr>
          <a:xfrm>
            <a:off x="914400" y="2926080"/>
            <a:ext cx="2468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2"/>
            </p:custDataLst>
          </p:nvPr>
        </p:nvSpPr>
        <p:spPr>
          <a:xfrm>
            <a:off x="914400" y="2926080"/>
            <a:ext cx="246888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3"/>
            </p:custDataLst>
          </p:nvPr>
        </p:nvSpPr>
        <p:spPr>
          <a:xfrm>
            <a:off x="1188720" y="31089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城市名片</a:t>
            </a:r>
          </a:p>
        </p:txBody>
      </p:sp>
      <p:sp>
        <p:nvSpPr>
          <p:cNvPr id="16" name="Rectangle 15"/>
          <p:cNvSpPr/>
          <p:nvPr>
            <p:custDataLst>
              <p:tags r:id="rId4"/>
            </p:custDataLst>
          </p:nvPr>
        </p:nvSpPr>
        <p:spPr>
          <a:xfrm>
            <a:off x="1188720" y="3566160"/>
            <a:ext cx="73152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5"/>
            </p:custDataLst>
          </p:nvPr>
        </p:nvSpPr>
        <p:spPr>
          <a:xfrm>
            <a:off x="1188720" y="37033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打造句容城市新名片</a:t>
            </a:r>
          </a:p>
          <a:p>
            <a:pPr algn="l">
              <a:lnSpc>
                <a:spcPts val="234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展示产业活力与创新形象</a:t>
            </a:r>
          </a:p>
        </p:txBody>
      </p:sp>
      <p:sp>
        <p:nvSpPr>
          <p:cNvPr id="18" name="Rounded Rectangle 17"/>
          <p:cNvSpPr/>
          <p:nvPr>
            <p:custDataLst>
              <p:tags r:id="rId6"/>
            </p:custDataLst>
          </p:nvPr>
        </p:nvSpPr>
        <p:spPr>
          <a:xfrm>
            <a:off x="3611880" y="2926080"/>
            <a:ext cx="2468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7"/>
            </p:custDataLst>
          </p:nvPr>
        </p:nvSpPr>
        <p:spPr>
          <a:xfrm>
            <a:off x="3611880" y="2926080"/>
            <a:ext cx="246888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3886200" y="31089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人才汇聚</a:t>
            </a:r>
          </a:p>
        </p:txBody>
      </p:sp>
      <p:sp>
        <p:nvSpPr>
          <p:cNvPr id="21" name="Rectangle 20"/>
          <p:cNvSpPr/>
          <p:nvPr>
            <p:custDataLst>
              <p:tags r:id="rId9"/>
            </p:custDataLst>
          </p:nvPr>
        </p:nvSpPr>
        <p:spPr>
          <a:xfrm>
            <a:off x="3886200" y="3566160"/>
            <a:ext cx="73152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0"/>
            </p:custDataLst>
          </p:nvPr>
        </p:nvSpPr>
        <p:spPr>
          <a:xfrm>
            <a:off x="3886200" y="37033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批量吸引优质内容创作者</a:t>
            </a:r>
          </a:p>
          <a:p>
            <a:pPr algn="l">
              <a:lnSpc>
                <a:spcPts val="234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建立OPC人才储备库</a:t>
            </a:r>
          </a:p>
        </p:txBody>
      </p:sp>
      <p:sp>
        <p:nvSpPr>
          <p:cNvPr id="23" name="Rounded Rectangle 22"/>
          <p:cNvSpPr/>
          <p:nvPr>
            <p:custDataLst>
              <p:tags r:id="rId11"/>
            </p:custDataLst>
          </p:nvPr>
        </p:nvSpPr>
        <p:spPr>
          <a:xfrm>
            <a:off x="6309360" y="2926080"/>
            <a:ext cx="2468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>
            <p:custDataLst>
              <p:tags r:id="rId12"/>
            </p:custDataLst>
          </p:nvPr>
        </p:nvSpPr>
        <p:spPr>
          <a:xfrm>
            <a:off x="6309360" y="2926080"/>
            <a:ext cx="246888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3"/>
            </p:custDataLst>
          </p:nvPr>
        </p:nvSpPr>
        <p:spPr>
          <a:xfrm>
            <a:off x="6583680" y="31089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产业出圈</a:t>
            </a:r>
          </a:p>
        </p:txBody>
      </p:sp>
      <p:sp>
        <p:nvSpPr>
          <p:cNvPr id="26" name="Rectangle 25"/>
          <p:cNvSpPr/>
          <p:nvPr>
            <p:custDataLst>
              <p:tags r:id="rId14"/>
            </p:custDataLst>
          </p:nvPr>
        </p:nvSpPr>
        <p:spPr>
          <a:xfrm>
            <a:off x="6583680" y="3566160"/>
            <a:ext cx="73152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5"/>
            </p:custDataLst>
          </p:nvPr>
        </p:nvSpPr>
        <p:spPr>
          <a:xfrm>
            <a:off x="6583680" y="37033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推动本地产品走向全国</a:t>
            </a:r>
          </a:p>
          <a:p>
            <a:pPr algn="l">
              <a:lnSpc>
                <a:spcPts val="234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跨境电商产业园招商引流</a:t>
            </a:r>
          </a:p>
        </p:txBody>
      </p:sp>
      <p:sp>
        <p:nvSpPr>
          <p:cNvPr id="28" name="Rounded Rectangle 27"/>
          <p:cNvSpPr/>
          <p:nvPr>
            <p:custDataLst>
              <p:tags r:id="rId16"/>
            </p:custDataLst>
          </p:nvPr>
        </p:nvSpPr>
        <p:spPr>
          <a:xfrm>
            <a:off x="9006840" y="2926080"/>
            <a:ext cx="2468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>
            <p:custDataLst>
              <p:tags r:id="rId17"/>
            </p:custDataLst>
          </p:nvPr>
        </p:nvSpPr>
        <p:spPr>
          <a:xfrm>
            <a:off x="9006840" y="2926080"/>
            <a:ext cx="246888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18"/>
            </p:custDataLst>
          </p:nvPr>
        </p:nvSpPr>
        <p:spPr>
          <a:xfrm>
            <a:off x="9281160" y="31089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生态建设</a:t>
            </a:r>
          </a:p>
        </p:txBody>
      </p:sp>
      <p:sp>
        <p:nvSpPr>
          <p:cNvPr id="31" name="Rectangle 30"/>
          <p:cNvSpPr/>
          <p:nvPr>
            <p:custDataLst>
              <p:tags r:id="rId19"/>
            </p:custDataLst>
          </p:nvPr>
        </p:nvSpPr>
        <p:spPr>
          <a:xfrm>
            <a:off x="9281160" y="3566160"/>
            <a:ext cx="731520" cy="25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20"/>
            </p:custDataLst>
          </p:nvPr>
        </p:nvSpPr>
        <p:spPr>
          <a:xfrm>
            <a:off x="9281160" y="37033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构建内容电商生态链</a:t>
            </a:r>
          </a:p>
          <a:p>
            <a:pPr algn="l">
              <a:lnSpc>
                <a:spcPts val="234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以赛促产、产城融合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大赛概况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1933677" y="1463040"/>
            <a:ext cx="4318218" cy="16379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>
            <p:custDataLst>
              <p:tags r:id="rId2"/>
            </p:custDataLst>
          </p:nvPr>
        </p:nvSpPr>
        <p:spPr>
          <a:xfrm>
            <a:off x="2119808" y="1649170"/>
            <a:ext cx="409486" cy="409486"/>
          </a:xfrm>
          <a:prstGeom prst="round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2119808" y="1671506"/>
            <a:ext cx="409486" cy="372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2678198" y="1686396"/>
            <a:ext cx="3350342" cy="3350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大赛名称</a:t>
            </a: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2119808" y="2207560"/>
            <a:ext cx="3945958" cy="74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lang="zh-CN"/>
              <a:t>全国首届</a:t>
            </a:r>
            <a:r>
              <a:rPr lang="en-US" altLang="zh-CN"/>
              <a:t>OPC</a:t>
            </a:r>
            <a:r>
              <a:rPr lang="zh-CN" altLang="en-US"/>
              <a:t>创客</a:t>
            </a:r>
            <a:r>
              <a:rPr lang="zh-CN" altLang="en-US"/>
              <a:t>大赛</a:t>
            </a:r>
            <a:endParaRPr lang="zh-CN" altLang="en-US"/>
          </a:p>
        </p:txBody>
      </p:sp>
      <p:sp>
        <p:nvSpPr>
          <p:cNvPr id="15" name="Rounded Rectangle 14"/>
          <p:cNvSpPr/>
          <p:nvPr>
            <p:custDataLst>
              <p:tags r:id="rId6"/>
            </p:custDataLst>
          </p:nvPr>
        </p:nvSpPr>
        <p:spPr>
          <a:xfrm>
            <a:off x="6549704" y="1463040"/>
            <a:ext cx="4318218" cy="16379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6735834" y="1649170"/>
            <a:ext cx="409486" cy="409486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6735834" y="1671506"/>
            <a:ext cx="409486" cy="372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7294225" y="1686396"/>
            <a:ext cx="3350342" cy="3350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参赛人群</a:t>
            </a: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6735834" y="2207560"/>
            <a:ext cx="3945958" cy="74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高校赛道 + 社会赛道 · 双轨并行</a:t>
            </a:r>
          </a:p>
        </p:txBody>
      </p:sp>
      <p:sp>
        <p:nvSpPr>
          <p:cNvPr id="20" name="Rounded Rectangle 19"/>
          <p:cNvSpPr/>
          <p:nvPr>
            <p:custDataLst>
              <p:tags r:id="rId11"/>
            </p:custDataLst>
          </p:nvPr>
        </p:nvSpPr>
        <p:spPr>
          <a:xfrm>
            <a:off x="1933677" y="3287115"/>
            <a:ext cx="4318218" cy="16379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2"/>
            </p:custDataLst>
          </p:nvPr>
        </p:nvSpPr>
        <p:spPr>
          <a:xfrm>
            <a:off x="2119808" y="3473245"/>
            <a:ext cx="409486" cy="409486"/>
          </a:xfrm>
          <a:prstGeom prst="round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2119808" y="3495581"/>
            <a:ext cx="409486" cy="372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2678198" y="3510471"/>
            <a:ext cx="3350342" cy="3350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比赛形式</a:t>
            </a: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2119808" y="3984645"/>
            <a:ext cx="3945958" cy="74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多赛道内容创作竞赛</a:t>
            </a:r>
            <a:br/>
            <a:r>
              <a:t>覆盖OPC核心能力方向</a:t>
            </a:r>
          </a:p>
        </p:txBody>
      </p:sp>
      <p:sp>
        <p:nvSpPr>
          <p:cNvPr id="25" name="Rounded Rectangle 24"/>
          <p:cNvSpPr/>
          <p:nvPr>
            <p:custDataLst>
              <p:tags r:id="rId16"/>
            </p:custDataLst>
          </p:nvPr>
        </p:nvSpPr>
        <p:spPr>
          <a:xfrm>
            <a:off x="6549704" y="3287115"/>
            <a:ext cx="4318218" cy="16379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>
            <p:custDataLst>
              <p:tags r:id="rId17"/>
            </p:custDataLst>
          </p:nvPr>
        </p:nvSpPr>
        <p:spPr>
          <a:xfrm>
            <a:off x="6735834" y="3473245"/>
            <a:ext cx="409486" cy="409486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8"/>
            </p:custDataLst>
          </p:nvPr>
        </p:nvSpPr>
        <p:spPr>
          <a:xfrm>
            <a:off x="6735834" y="3495581"/>
            <a:ext cx="409486" cy="372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>
            <p:custDataLst>
              <p:tags r:id="rId19"/>
            </p:custDataLst>
          </p:nvPr>
        </p:nvSpPr>
        <p:spPr>
          <a:xfrm>
            <a:off x="7294225" y="3510471"/>
            <a:ext cx="3350342" cy="3350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赛事定位</a:t>
            </a:r>
          </a:p>
        </p:txBody>
      </p:sp>
      <p:sp>
        <p:nvSpPr>
          <p:cNvPr id="29" name="TextBox 28"/>
          <p:cNvSpPr txBox="1"/>
          <p:nvPr>
            <p:custDataLst>
              <p:tags r:id="rId20"/>
            </p:custDataLst>
          </p:nvPr>
        </p:nvSpPr>
        <p:spPr>
          <a:xfrm>
            <a:off x="6735834" y="4031635"/>
            <a:ext cx="3945958" cy="74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以赛招商、以赛聚人、以赛造势</a:t>
            </a:r>
            <a:br/>
            <a:r>
              <a:t>为跨境电商产业园注入活力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1175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组织架构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1870" y="5037455"/>
            <a:ext cx="41833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600"/>
              <a:t>主办单位：句容市商务局</a:t>
            </a:r>
            <a:r>
              <a:rPr lang="zh-CN" sz="1600"/>
              <a:t>、</a:t>
            </a:r>
            <a:r>
              <a:rPr sz="1600"/>
              <a:t>句容市科技局</a:t>
            </a:r>
            <a:endParaRPr sz="16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600">
                <a:sym typeface="+mn-ea"/>
              </a:rPr>
              <a:t>承办单位：振邺科技</a:t>
            </a:r>
            <a:r>
              <a:rPr lang="zh-CN" sz="1600">
                <a:sym typeface="+mn-ea"/>
              </a:rPr>
              <a:t>、</a:t>
            </a:r>
            <a:r>
              <a:rPr sz="1600">
                <a:sym typeface="+mn-ea"/>
              </a:rPr>
              <a:t>智科数娱</a:t>
            </a:r>
            <a:endParaRPr sz="1600"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600">
                <a:sym typeface="+mn-ea"/>
              </a:rPr>
              <a:t>协办单位：香宁研究院</a:t>
            </a:r>
            <a:r>
              <a:rPr lang="zh-CN" sz="1600">
                <a:sym typeface="+mn-ea"/>
              </a:rPr>
              <a:t>、</a:t>
            </a:r>
            <a:r>
              <a:rPr sz="1600">
                <a:sym typeface="+mn-ea"/>
              </a:rPr>
              <a:t>龙虾联盟</a:t>
            </a:r>
            <a:endParaRPr sz="1600"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endParaRPr sz="1600">
              <a:sym typeface="+mn-ea"/>
            </a:endParaRP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endParaRPr sz="16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参赛对象与赛道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参赛对象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874519"/>
            <a:ext cx="73152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19456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94560"/>
            <a:ext cx="502920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4231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高校赛道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803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面向全国高校在校生（重点覆盖江苏及长三角）</a:t>
            </a:r>
          </a:p>
          <a:p>
            <a:pPr algn="l">
              <a:lnSpc>
                <a:spcPts val="204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个人或团队参赛，每队不超过3人</a:t>
            </a:r>
          </a:p>
          <a:p>
            <a:pPr algn="l">
              <a:lnSpc>
                <a:spcPts val="204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高校组织推荐报名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297680"/>
            <a:ext cx="502920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26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社会赛道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834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面向社会内容创作者、自媒体从业者</a:t>
            </a:r>
          </a:p>
          <a:p>
            <a:pPr algn="l">
              <a:lnSpc>
                <a:spcPts val="204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鼓励有意向从事内容电商的个人和团队</a:t>
            </a:r>
          </a:p>
          <a:p>
            <a:pPr algn="l">
              <a:lnSpc>
                <a:spcPts val="204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句容本地创业者优先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四大赛道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874519"/>
            <a:ext cx="73152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2194560"/>
            <a:ext cx="4846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0" y="2350008"/>
            <a:ext cx="502920" cy="502920"/>
          </a:xfrm>
          <a:prstGeom prst="ellipse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377440"/>
            <a:ext cx="502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28600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短视频创作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65176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种草 / 测评 / 带货 / 品牌宣传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3200400"/>
            <a:ext cx="4846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0" y="3355848"/>
            <a:ext cx="502920" cy="5029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383280"/>
            <a:ext cx="502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29184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短剧创作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6576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产品故事 / 品牌理念 / 城市文化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206240"/>
            <a:ext cx="4846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0" y="4361688"/>
            <a:ext cx="502920" cy="502920"/>
          </a:xfrm>
          <a:prstGeom prst="ellipse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389120"/>
            <a:ext cx="502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29768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直播实战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6634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直播带货 / 选品话术 / 互动转化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5212080"/>
            <a:ext cx="4846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0" y="5367528"/>
            <a:ext cx="502920" cy="5029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502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30352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内容电商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66928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图文种草 / 多形式产品推广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创作主题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大赛主题围绕产品推广和城市文旅两大方向，具体选题结合赞助商产品和本地产业资源灵活设置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10312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5120640" cy="54864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80160" y="2423160"/>
            <a:ext cx="1097280" cy="365760"/>
          </a:xfrm>
          <a:prstGeom prst="round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441448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423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好物推荐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围绕大赛指定产品 / 赞助商产品进行内容创作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747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内容种草：产品亮点挖掘与创意呈现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产品测评：使用体验深度展示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场景展示：真实使用场景内容创作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品牌故事：产品背后的品牌理念传达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103120"/>
            <a:ext cx="5120640" cy="548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0" y="2423160"/>
            <a:ext cx="109728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441448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423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城市文旅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7180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围绕句容城市风貌、特色产业、文化故事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城市风貌：句容自然风光与城市景观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特色产业：本地优势产业深度展示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文化故事：历史人文与非遗传承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城市活力：现代发展与青年视角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943600"/>
            <a:ext cx="10515600" cy="45720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C8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989320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*  具体创作选题将在赛事启动时公布，结合赞助商产品和本地产业资源灵活设置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赛程安排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2025年5月  —  2025年12月   |   全程8个月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304288"/>
            <a:ext cx="9601200" cy="38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0" y="2148840"/>
            <a:ext cx="347472" cy="347472"/>
          </a:xfrm>
          <a:prstGeom prst="ellipse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176272"/>
            <a:ext cx="347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5月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97480"/>
            <a:ext cx="2286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228600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新闻发布</a:t>
            </a:r>
            <a:br/>
            <a:r>
              <a:t>暨启动仪式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566160"/>
            <a:ext cx="109728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举办新闻发布会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政府领导致辞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赛事正式启动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全渠道宣发开启</a:t>
            </a:r>
          </a:p>
        </p:txBody>
      </p:sp>
      <p:sp>
        <p:nvSpPr>
          <p:cNvPr id="20" name="Oval 19"/>
          <p:cNvSpPr/>
          <p:nvPr/>
        </p:nvSpPr>
        <p:spPr>
          <a:xfrm>
            <a:off x="4251960" y="2148840"/>
            <a:ext cx="347472" cy="347472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176272"/>
            <a:ext cx="347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783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6-7月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2697480"/>
            <a:ext cx="2286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2697480"/>
            <a:ext cx="228600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88036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选拔赛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566160"/>
            <a:ext cx="109728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74903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线上内容创作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高校/社会双轨评选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各赛道选出晋级选手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阶段性数据公示</a:t>
            </a:r>
          </a:p>
        </p:txBody>
      </p:sp>
      <p:sp>
        <p:nvSpPr>
          <p:cNvPr id="28" name="Oval 27"/>
          <p:cNvSpPr/>
          <p:nvPr/>
        </p:nvSpPr>
        <p:spPr>
          <a:xfrm>
            <a:off x="6812280" y="2148840"/>
            <a:ext cx="347472" cy="347472"/>
          </a:xfrm>
          <a:prstGeom prst="ellipse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2176272"/>
            <a:ext cx="347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1783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5A5A"/>
                </a:solidFill>
                <a:latin typeface="微软雅黑" panose="020B0503020204020204" charset="-122"/>
              </a:defRPr>
            </a:pPr>
            <a:r>
              <a:t>9-10月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2697480"/>
            <a:ext cx="2286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2697480"/>
            <a:ext cx="2286000" cy="5080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288036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晋级赛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566160"/>
            <a:ext cx="1097280" cy="2540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74903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限时主题创作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赛前集训营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导师一对一指导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选出决赛选手</a:t>
            </a:r>
          </a:p>
        </p:txBody>
      </p:sp>
      <p:sp>
        <p:nvSpPr>
          <p:cNvPr id="36" name="Oval 35"/>
          <p:cNvSpPr/>
          <p:nvPr/>
        </p:nvSpPr>
        <p:spPr>
          <a:xfrm>
            <a:off x="9372600" y="2148840"/>
            <a:ext cx="347472" cy="347472"/>
          </a:xfrm>
          <a:prstGeom prst="ellipse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2176272"/>
            <a:ext cx="347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7830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12月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2697480"/>
            <a:ext cx="2286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0" y="2697480"/>
            <a:ext cx="228600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88036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总决赛</a:t>
            </a:r>
            <a:br/>
            <a:r>
              <a:t>暨颁奖典礼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3566160"/>
            <a:ext cx="109728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374903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现场创作展示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直播实战环节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颁奖典礼</a:t>
            </a:r>
          </a:p>
          <a:p>
            <a:pPr algn="l">
              <a:lnSpc>
                <a:spcPts val="2280"/>
              </a:lnSpc>
              <a:spcBef>
                <a:spcPts val="100"/>
              </a:spcBef>
              <a:spcAft>
                <a:spcPts val="30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年度OPC盛典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评审体系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3632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6271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内容创意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417574"/>
            <a:ext cx="50292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1417574"/>
            <a:ext cx="5029200" cy="256032"/>
          </a:xfrm>
          <a:prstGeom prst="round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36271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1018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创意独特性、故事性、可看性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3139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制作质量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286254"/>
            <a:ext cx="50292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2286254"/>
            <a:ext cx="4023360" cy="25603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23139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57886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画面质量、剪辑节奏、表达力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0007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数据表现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154934"/>
            <a:ext cx="50292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0" y="3154934"/>
            <a:ext cx="4023360" cy="256032"/>
          </a:xfrm>
          <a:prstGeom prst="round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10007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05A5A"/>
                </a:solidFill>
                <a:latin typeface="微软雅黑" panose="020B0503020204020204" charset="-122"/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4754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播放量、互动率、完播率/转化率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68749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商业转化潜力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4023613"/>
            <a:ext cx="50292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0" y="4023613"/>
            <a:ext cx="4023360" cy="25603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968749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16221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选品能力、变现可能性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3743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主题契合度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892294"/>
            <a:ext cx="50292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00400" y="4892294"/>
            <a:ext cx="3017520" cy="256032"/>
          </a:xfrm>
          <a:prstGeom prst="round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83743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84902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与指定主题的契合度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评审团构成：行业专家  ·  平台代表  ·  品牌方代表  ·  政府代表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奖项设置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46304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463040"/>
            <a:ext cx="5120640" cy="54864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7373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高校赛道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331720"/>
            <a:ext cx="50800" cy="36576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2860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一等奖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860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各赛道1名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57860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奖金 + 证书 + 入园扶持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971800"/>
            <a:ext cx="508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92608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二等奖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92608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各赛道3名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1868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奖金 + 证书 + 实习机会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611880"/>
            <a:ext cx="5080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5661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三等奖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5661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各赛道5名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85876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奖金 + 证书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251959"/>
            <a:ext cx="50800" cy="36576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206239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优秀奖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206239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若干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98847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荣誉证书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46304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463040"/>
            <a:ext cx="5120640" cy="548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17373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社会赛道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331720"/>
            <a:ext cx="50800" cy="36576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2860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一等奖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2860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各赛道1名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57860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奖金 + 证书 + 商务合作机会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2971800"/>
            <a:ext cx="508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292608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二等奖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92608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各赛道3名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21868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奖金 + 证书 + 流量扶持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3611880"/>
            <a:ext cx="5080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35661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三等奖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5661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各赛道5名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385876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奖金 + 证书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2120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特别奖项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669280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" y="5669280"/>
            <a:ext cx="63500" cy="50292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73328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最佳创意奖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5669280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0" y="5669280"/>
            <a:ext cx="63500" cy="50292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573328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最佳人气奖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5669280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5669280"/>
            <a:ext cx="635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573328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最佳商业潜力奖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赋能与培训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全链条赋能体系，从赛前启蒙到赛后持续成长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1168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011680"/>
            <a:ext cx="338328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2240280"/>
            <a:ext cx="777240" cy="347472"/>
          </a:xfrm>
          <a:prstGeom prst="round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258568"/>
            <a:ext cx="777240" cy="3017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赛前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258568"/>
            <a:ext cx="2011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基础赋能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2743200"/>
            <a:ext cx="73152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9260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高校巡回宣讲会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OPC行业趋势与新职业前景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线上培训课程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内容创作基础入门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01168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011680"/>
            <a:ext cx="338328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00600" y="2240280"/>
            <a:ext cx="777240" cy="34747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258568"/>
            <a:ext cx="777240" cy="3017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赛中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258568"/>
            <a:ext cx="2011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进阶提升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743200"/>
            <a:ext cx="73152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9260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晋级赛前集训营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进阶创作技巧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选品逻辑与数据运营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行业导师一对一指导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01168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011680"/>
            <a:ext cx="3383280" cy="5080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58200" y="2240280"/>
            <a:ext cx="777240" cy="347472"/>
          </a:xfrm>
          <a:prstGeom prst="round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258568"/>
            <a:ext cx="777240" cy="3017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赛后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258568"/>
            <a:ext cx="2011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持续成长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2743200"/>
            <a:ext cx="731520" cy="2540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9260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获奖选手纳入人才库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对接跨境电商产业园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优秀作品持续传播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为产业园提供内容资产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566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566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宣传推广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句容市OPC大赛方案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55448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554480"/>
            <a:ext cx="338328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78308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94560"/>
            <a:ext cx="2834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线上推广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5176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多平台流量矩阵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971800"/>
            <a:ext cx="73152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2004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抖音话题挑战赛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高校自媒体矩阵联动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微信/视频号/小红书分发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KOL/KOC联合推广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55448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1554480"/>
            <a:ext cx="338328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78308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94560"/>
            <a:ext cx="2834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线下推广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65176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深度触达目标人群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971800"/>
            <a:ext cx="73152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004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高校校园宣传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句容本地商圈社区宣传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新闻发布会暨启动仪式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高铁站/公交站广告投放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55448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554480"/>
            <a:ext cx="3383280" cy="5080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78308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5A5A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194560"/>
            <a:ext cx="2834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媒体传播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65176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5A5A"/>
                </a:solidFill>
                <a:latin typeface="微软雅黑" panose="020B0503020204020204" charset="-122"/>
              </a:defRPr>
            </a:pPr>
            <a:r>
              <a:t>权威背书与行业影响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971800"/>
            <a:ext cx="731520" cy="2540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2004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省/市级主流媒体报道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行业媒体专题报道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高校媒体联动传播</a:t>
            </a:r>
          </a:p>
          <a:p>
            <a:pPr algn="l">
              <a:lnSpc>
                <a:spcPts val="2600"/>
              </a:lnSpc>
              <a:spcBef>
                <a:spcPts val="100"/>
              </a:spcBef>
              <a:spcAft>
                <a:spcPts val="3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行业自媒体KOL发声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预期效果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句容市OPC大赛方案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201168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rPr lang="en-US"/>
              <a:t>50</a:t>
            </a:r>
            <a:r>
              <a:t>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总参赛人数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55448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1554480"/>
            <a:ext cx="201168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78308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lang="en-US"/>
              <a:t>6</a:t>
            </a:r>
            <a:r>
              <a:t>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2316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覆盖高校数量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55448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554480"/>
            <a:ext cx="2011680" cy="5080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3020" y="1783080"/>
            <a:ext cx="23018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5A5A"/>
                </a:solidFill>
                <a:latin typeface="微软雅黑" panose="020B0503020204020204" charset="-122"/>
              </a:defRPr>
            </a:pPr>
            <a:r>
              <a:t>5,000万+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42316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话题播放量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0" y="155448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0" y="1554480"/>
            <a:ext cx="201168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78308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rPr lang="en-US"/>
              <a:t>5</a:t>
            </a:r>
            <a:r>
              <a:t>亿+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42316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全网曝光量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55448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1554480"/>
            <a:ext cx="201168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78308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42316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优质内容产出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832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产业价值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749039"/>
            <a:ext cx="731520" cy="254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40233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4023360"/>
            <a:ext cx="3383280" cy="508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25196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人才储备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09160"/>
            <a:ext cx="2834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为跨境电商产业园</a:t>
            </a:r>
            <a:br/>
            <a:r>
              <a:t>建立OPC人才库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0233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4023360"/>
            <a:ext cx="338328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425196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产业对接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709160"/>
            <a:ext cx="2834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获奖创作者优先</a:t>
            </a:r>
            <a:br/>
            <a:r>
              <a:t>对接园区企业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02336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4023360"/>
            <a:ext cx="3383280" cy="50800"/>
          </a:xfrm>
          <a:prstGeom prst="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25196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品牌IP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709160"/>
            <a:ext cx="2834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赛事形成年度IP</a:t>
            </a:r>
            <a:br/>
            <a:r>
              <a:t>持续输送人才和内容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365760"/>
            <a:ext cx="40233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2A2A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254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56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后续规划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57580"/>
            <a:ext cx="20116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460500"/>
            <a:ext cx="685800" cy="685800"/>
          </a:xfrm>
          <a:prstGeom prst="roundRect">
            <a:avLst/>
          </a:prstGeom>
          <a:solidFill>
            <a:srgbClr val="C82A2A"/>
          </a:solidFill>
          <a:ln>
            <a:noFill/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62100"/>
            <a:ext cx="685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4859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创作者入驻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71980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获奖创作者对接跨境电商产业园，成为首批内容入驻企业/个人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2146300"/>
            <a:ext cx="25400" cy="4114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557780"/>
            <a:ext cx="685800" cy="685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59380"/>
            <a:ext cx="685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58318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人才池运营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69260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参赛选手社群持续运营，定期举办活动，保持人才池活跃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3243580"/>
            <a:ext cx="25400" cy="4114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655060"/>
            <a:ext cx="685800" cy="685800"/>
          </a:xfrm>
          <a:prstGeom prst="roundRect">
            <a:avLst/>
          </a:prstGeom>
          <a:solidFill>
            <a:srgbClr val="E05A5A"/>
          </a:solidFill>
          <a:ln>
            <a:noFill/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56660"/>
            <a:ext cx="685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804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年度IP化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066540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大赛年度IP化，每年举办一届，形成持续品牌影响力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4340860"/>
            <a:ext cx="25400" cy="4114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752339"/>
            <a:ext cx="685800" cy="68580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>
            <a:outerShdw blurRad="101600" dist="38100" dir="54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53939"/>
            <a:ext cx="685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777739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模式复制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163819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模式跑通后可复制到其他产业园区，实现规模化输出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902960"/>
            <a:ext cx="10515600" cy="5943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994400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以赛为始，以产为终  ——  打造句容内容电商新生态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418320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108960"/>
            <a:ext cx="1554480" cy="38100"/>
          </a:xfrm>
          <a:prstGeom prst="rect">
            <a:avLst/>
          </a:prstGeom>
          <a:solidFill>
            <a:srgbClr val="C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5A5A"/>
                </a:solidFill>
                <a:latin typeface="微软雅黑" panose="020B0503020204020204" charset="-122"/>
              </a:defRPr>
            </a:pPr>
            <a:r>
              <a:rPr lang="zh-CN"/>
              <a:t>全国首届</a:t>
            </a:r>
            <a:r>
              <a:t>OPC</a:t>
            </a:r>
            <a:r>
              <a:rPr lang="zh-CN"/>
              <a:t>创客</a:t>
            </a:r>
            <a:r>
              <a:t>大赛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以赛招商  ·  以赛聚人  ·  以赛造势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389120"/>
            <a:ext cx="9418320" cy="127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418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主办单位：句容市商务局  ·  句容市科技局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9418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承办单位：振邺科技  ·  智科数娱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12080"/>
            <a:ext cx="9418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协办单位：香宁研究院  ·  龙虾联盟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2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3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4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5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6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7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8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9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0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1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2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3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4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5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6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7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8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19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20.xml><?xml version="1.0" encoding="utf-8"?>
<p:tagLst xmlns:p="http://schemas.openxmlformats.org/presentationml/2006/main">
  <p:tag name="KSO_WM_DIAGRAM_VIRTUALLY_FRAME" val="{&quot;height&quot;:201.6,&quot;left&quot;:72,&quot;top&quot;:230.4,&quot;width&quot;:831.6}"/>
</p:tagLst>
</file>

<file path=ppt/tags/tag21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22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23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24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25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26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27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28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29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0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1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2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3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4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5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6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7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8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39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ags/tag40.xml><?xml version="1.0" encoding="utf-8"?>
<p:tagLst xmlns:p="http://schemas.openxmlformats.org/presentationml/2006/main">
  <p:tag name="KSO_WM_DIAGRAM_VIRTUALLY_FRAME" val="{&quot;height&quot;:272.6,&quot;left&quot;:72,&quot;top&quot;:115.2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2406</Words>
  <Application>WPS 演示</Application>
  <PresentationFormat>On-screen Show (4:3)</PresentationFormat>
  <Paragraphs>502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Holly W</cp:lastModifiedBy>
  <cp:revision>2</cp:revision>
  <dcterms:created xsi:type="dcterms:W3CDTF">2013-01-27T09:14:00Z</dcterms:created>
  <dcterms:modified xsi:type="dcterms:W3CDTF">2026-04-17T04:50:07Z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EE901A6D7F3745F59C09D9CCF4573E9B_12</vt:lpwstr>
  </property>
</Properties>
</file>